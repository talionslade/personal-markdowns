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1655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80160"/>
            <a:ext cx="73152" cy="2377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80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Planning for LLM Agents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148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for Robust Decision-Making Under Distribution Shift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Dissertation  ·  Outline Viva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Arpan Ghosh</a:t>
            </a:r>
            <a:endParaRPr lang="en-US" sz="16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AI &amp; Machine Learning</a:t>
            </a:r>
            <a:endParaRPr lang="en-US" sz="16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  ·  WILP</a:t>
            </a:r>
            <a:endParaRPr lang="en-US" sz="16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research question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LLM agents (ReAct, CoT, tool-use scaffolds) are correlational at the action-selection layer. They learn what tends to work, not why — and degrade sharply under distribution shift.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8229600" cy="16916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240280"/>
            <a:ext cx="91440" cy="1691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31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an LLM agent that selects actions via Pearl’s do-calculus generalise better under distribution shift than standard correlational agents?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Hypothesis. 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structure is more stable across distributions than statistical correlations.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Arpan Ghosh  ·  Outline Viva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846320" cy="4114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292608" cy="2926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7373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Planning Layer using DoWhy for do-calculus action scoring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292608" cy="2926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1945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Causal Model for the software debugging domain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697480"/>
            <a:ext cx="292608" cy="2926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6517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Reflection Module for online belief update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154680"/>
            <a:ext cx="292608" cy="2926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108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Shift Evaluation Suite on SWE-bench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611880"/>
            <a:ext cx="292608" cy="2926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5661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ReAct / CoT / no-memory on OOD task variants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069080"/>
            <a:ext cx="292608" cy="2926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69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0233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causal traces evaluated as explanations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0" y="1188720"/>
            <a:ext cx="3200400" cy="411480"/>
          </a:xfrm>
          <a:prstGeom prst="rect">
            <a:avLst/>
          </a:prstGeom>
          <a:solidFill>
            <a:srgbClr val="2D8F4E"/>
          </a:solidFill>
          <a:ln w="12700">
            <a:solidFill>
              <a:srgbClr val="2D8F4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1188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23560" y="169164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for debugging domain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4-component Python system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+ ablations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evaluation suite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Dissertation report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0" y="3108960"/>
            <a:ext cx="3200400" cy="411480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23560" y="3611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new LLMs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discovery from scratch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beyond debugging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variants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Arpan Ghosh  ·  Outline Viva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1874520" cy="1828800"/>
          </a:xfrm>
          <a:prstGeom prst="rect">
            <a:avLst/>
          </a:prstGeom>
          <a:solidFill>
            <a:srgbClr val="F4F6F8"/>
          </a:solidFill>
          <a:ln w="12700">
            <a:solidFill>
              <a:srgbClr val="1F3A5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71600"/>
            <a:ext cx="1874520" cy="91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Graph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 edge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→ DAG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04288" y="2103120"/>
            <a:ext cx="237744" cy="365760"/>
          </a:xfrm>
          <a:prstGeom prst="rightArrow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371600"/>
            <a:ext cx="1874520" cy="1828800"/>
          </a:xfrm>
          <a:prstGeom prst="rect">
            <a:avLst/>
          </a:prstGeom>
          <a:solidFill>
            <a:srgbClr val="F4F6F8"/>
          </a:solidFill>
          <a:ln w="12700">
            <a:solidFill>
              <a:srgbClr val="1F3A5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371600"/>
            <a:ext cx="1874520" cy="91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5544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18745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Planning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97480" y="25603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DoWhy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do-calculus scoring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53128" y="2103120"/>
            <a:ext cx="237744" cy="365760"/>
          </a:xfrm>
          <a:prstGeom prst="rightArrow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371600"/>
            <a:ext cx="1874520" cy="1828800"/>
          </a:xfrm>
          <a:prstGeom prst="rect">
            <a:avLst/>
          </a:prstGeom>
          <a:solidFill>
            <a:srgbClr val="F4F6F8"/>
          </a:solidFill>
          <a:ln w="12700">
            <a:solidFill>
              <a:srgbClr val="1F3A5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371600"/>
            <a:ext cx="1874520" cy="91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5544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18745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5603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belief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from experience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01968" y="2103120"/>
            <a:ext cx="237744" cy="365760"/>
          </a:xfrm>
          <a:prstGeom prst="rightArrow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0" y="1371600"/>
            <a:ext cx="1874520" cy="1828800"/>
          </a:xfrm>
          <a:prstGeom prst="rect">
            <a:avLst/>
          </a:prstGeom>
          <a:solidFill>
            <a:srgbClr val="F4F6F8"/>
          </a:solidFill>
          <a:ln w="12700">
            <a:solidFill>
              <a:srgbClr val="1F3A5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0" y="1371600"/>
            <a:ext cx="1874520" cy="91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15544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95160" y="18745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Shift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Suite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95160" y="25603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 SWE-bench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OOD tests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description, candidate tools, current state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action + causal trace explaining the choice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decision-and-learning loop; each component independently testable.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Arpan Ghosh  ·  Outline Viva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the causal graph (SCM)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 (observational)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05840" y="1417320"/>
            <a:ext cx="169164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17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error_message_type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721608" y="1417320"/>
            <a:ext cx="169164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21608" y="1417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codebase_structure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37376" y="1417320"/>
            <a:ext cx="169164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7376" y="14173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context_available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CHAIN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09928" y="3136392"/>
            <a:ext cx="237744" cy="219456"/>
          </a:xfrm>
          <a:prstGeom prst="rightArrow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81528" y="3136392"/>
            <a:ext cx="237744" cy="219456"/>
          </a:xfrm>
          <a:prstGeom prst="rightArrow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53128" y="3136392"/>
            <a:ext cx="237744" cy="219456"/>
          </a:xfrm>
          <a:prstGeom prst="rightArrow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24728" y="3136392"/>
            <a:ext cx="237744" cy="219456"/>
          </a:xfrm>
          <a:prstGeom prst="rightArrow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96328" y="3136392"/>
            <a:ext cx="237744" cy="219456"/>
          </a:xfrm>
          <a:prstGeom prst="rightArrow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017520"/>
            <a:ext cx="109728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017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hypothesis_space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965960" y="3017520"/>
            <a:ext cx="1097280" cy="457200"/>
          </a:xfrm>
          <a:prstGeom prst="ellipse">
            <a:avLst/>
          </a:prstGeom>
          <a:solidFill>
            <a:srgbClr val="0D7377"/>
          </a:solidFill>
          <a:ln w="1905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65960" y="3017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tool_selected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3017520"/>
            <a:ext cx="109728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017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information_gained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3017520"/>
            <a:ext cx="109728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3017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root_cause_identified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80760" y="3017520"/>
            <a:ext cx="109728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3017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patch_quality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452360" y="3017520"/>
            <a:ext cx="109728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52360" y="3017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tests_passed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60020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do() intervention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nodes, 8 edges.  </a:t>
            </a: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error_message_type &amp; codebase_structure → hypothesis_space; context_available → information_gained; then the chain runs left → right ending in tests_passed.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Arpan Ghosh  ·  Outline Viva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85651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decision loop &amp; evaluation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80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LOOP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 in candidate_actions: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score[a] = P(goal | do(a))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# via DoWhy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chosen = argmax(score)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outcome = execute(chosen)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counterfactual reflection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alt in alternatives: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est = LLM.counterfactual(alt)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est &gt; outcome + θ: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update_beliefs(alt)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84048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965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No-memory  ·  ReAct  ·  CoT  ·  Causal Planning Agent (ours)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24231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83480" y="2670048"/>
            <a:ext cx="3657600" cy="1055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success — in-distribution</a:t>
            </a:r>
            <a:endParaRPr lang="en-US" sz="1100" dirty="0"/>
          </a:p>
          <a:p>
            <a:pPr marL="342900" indent="-342900" algn="l">
              <a:spcAft>
                <a:spcPts val="300"/>
              </a:spcAft>
              <a:buSzPct val="100000"/>
              <a:buChar char="■"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success — out-of-distribution  ★ primary</a:t>
            </a:r>
            <a:endParaRPr lang="en-US" sz="1100" dirty="0"/>
          </a:p>
          <a:p>
            <a:pPr marL="342900" indent="-342900" algn="l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 after first tool failure</a:t>
            </a:r>
            <a:endParaRPr lang="en-US" sz="1100" dirty="0"/>
          </a:p>
          <a:p>
            <a:pPr marL="342900" indent="-342900" algn="l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quality (LLM-as-judge + human)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3886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SHIFT AXES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4114800"/>
            <a:ext cx="3840480" cy="283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  ·  bug type  ·  framework  ·  codebase size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Arpan Ghosh  ·  Outline Viva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&amp; key findings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274320" cy="274320"/>
          </a:xfrm>
          <a:prstGeom prst="ellipse">
            <a:avLst/>
          </a:prstGeom>
          <a:solidFill>
            <a:srgbClr val="2D8F4E"/>
          </a:solidFill>
          <a:ln w="12700">
            <a:solidFill>
              <a:srgbClr val="2D8F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188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surveyed: ReAct, CLadder, Kıcıman et al., SWE-bench, DoWhy, Think-on-Graph.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274320" cy="274320"/>
          </a:xfrm>
          <a:prstGeom prst="ellipse">
            <a:avLst/>
          </a:prstGeom>
          <a:solidFill>
            <a:srgbClr val="2D8F4E"/>
          </a:solidFill>
          <a:ln w="12700">
            <a:solidFill>
              <a:srgbClr val="2D8F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6916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causal model for debugging domain drafted — 9 nodes, 8 edges.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274320" cy="274320"/>
          </a:xfrm>
          <a:prstGeom prst="ellipse">
            <a:avLst/>
          </a:prstGeom>
          <a:solidFill>
            <a:srgbClr val="2D8F4E"/>
          </a:solidFill>
          <a:ln w="12700">
            <a:solidFill>
              <a:srgbClr val="2D8F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194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Dissertation outline submitted (May 15).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743200"/>
            <a:ext cx="274320" cy="274320"/>
          </a:xfrm>
          <a:prstGeom prst="ellipse">
            <a:avLst/>
          </a:prstGeom>
          <a:solidFill>
            <a:srgbClr val="2D8F4E"/>
          </a:solidFill>
          <a:ln w="12700">
            <a:solidFill>
              <a:srgbClr val="2D8F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697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environment set up — Python 3.11, DoWhy 0.14, networkx, anthropic SDK.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246120"/>
            <a:ext cx="274320" cy="274320"/>
          </a:xfrm>
          <a:prstGeom prst="ellipse">
            <a:avLst/>
          </a:prstGeom>
          <a:solidFill>
            <a:srgbClr val="2D8F4E"/>
          </a:solidFill>
          <a:ln w="12700">
            <a:solidFill>
              <a:srgbClr val="2D8F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200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DoWhy round-trip validated — 3-node SCM, ATE recovered within 0.3 of ground truth.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023360"/>
            <a:ext cx="91440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02336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Currently: 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Causal Graph Extractor and Planning Layer (target: May 29).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Arpan Ghosh  ·  Outline Viva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OF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— plan for the remaining semester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779776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Dates (2026)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Causal graph + DoWhy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16 – May 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Components 1 &amp;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evaluation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23 – Jun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/ CoT / no-memory on SWE-bench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Causal planning + counterfactual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6 – Jun 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demo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Mid-sem (30%)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27 – Jul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vs causal results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Ablations + dist-shift suite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4 – Jul 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OOD experiments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Writing &amp;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25 – Aug 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Dissertation draft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Viva (60%)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8 – Aug 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defense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milestone: Component 1 + 2 working end-to-end by May 29.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Arpan Ghosh  ·  Outline Viva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73152" cy="1828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554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7772400" cy="354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Yao et al. (2022) ReAct  ·  Jin et al. (2023) CLadder  ·  Kıcıman et al. (2023) Causal LLMs  ·  Jimenez et al. (2024) SWE-bench  ·  Sharma &amp; Kıcıman (2020) DoWhy  ·  Pearl (2009) Causality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857</Words>
  <Application>Microsoft Office PowerPoint</Application>
  <PresentationFormat>On-screen Show (16:9)</PresentationFormat>
  <Paragraphs>171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Causal Planning for LLM Agents — Outline Viva</dc:title>
  <dc:subject>PptxGenJS Presentation</dc:subject>
  <dc:creator>Arpan Ghosh</dc:creator>
  <cp:lastModifiedBy>Arpan Ghosh</cp:lastModifiedBy>
  <cp:revision>3</cp:revision>
  <dcterms:created xsi:type="dcterms:W3CDTF">2026-05-24T10:18:19Z</dcterms:created>
  <dcterms:modified xsi:type="dcterms:W3CDTF">2026-05-24T14:46:11Z</dcterms:modified>
</cp:coreProperties>
</file>